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4B0D4-E6FE-21E3-8A2F-02F0D65DC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0E3A7-F8FD-A50F-5FDA-FF7EE9850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4D020-1D53-95B3-8968-61B7FA0B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88C85-9C6B-D522-1DEC-D6B4E059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A33A9-DDFF-DDE8-A554-089CB3D5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92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9038B-7F1B-8EE5-455E-E596D921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D809E-D7FA-1317-68D4-84AAE30C5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1B1F0-2B8E-A77A-2C94-DE56A8D1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D7D77-E4C9-35C1-66F0-D06445F4F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E0DA1-EBF1-54EF-F329-435AFF3E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7947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0C9E-8B3F-8582-7047-1158CB0CC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4F4C3-5C45-7B7D-533C-FA2A470BC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1ED53-39D7-0387-46A3-0703A381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B9A20-E87E-F546-3226-72C83C587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ACC3C-CC02-966E-BDAD-94023A80C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751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9EA01-BEA6-507D-771E-6561FD85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28D61-1691-8BD1-C777-290CB71BB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7F93E-E799-03D7-F584-A51C87540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0BA83-AEDB-0C09-49B9-2EA2F5178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29578-3B93-AD3C-A2E6-A36790BB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7B7C6-6EE6-2AE8-88B6-25171B22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902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5E33-994F-BE69-A9AE-F30DF8A6A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863A1-DF79-3CF3-0049-3502E0BD7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BD678-75C5-E90F-18B6-DD7BBC54A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B7013-4C11-A7A7-FF7A-C640A3765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698F9-1958-4652-D3EF-617777876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E93E9-C6EF-4BC1-3345-F72F26A2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A838B-38EF-9E34-08EF-CD88E1DF0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DC6A6E-4DF9-6925-D9E1-B403D72D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505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615ED-15F4-4E12-F320-9A642408A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84912-0EBA-57AC-78CA-D9FFE512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CD0A5-473C-5771-20CE-5CD7419B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8D994-3667-C69C-ABC2-ACD96094A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9207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66CF9-3AAA-4D70-3E44-FCCB55B9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F99EA8-E3CB-99E8-6546-FA39F6D7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6058C-B52A-E360-C444-FE66F516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213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C1D1-A9D7-FDEE-531B-0A22DDF9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F7C59-6F76-2795-A3A0-06F3B2B2F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01275-844B-37D6-CE29-45BBCF8F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4A1A4-1E1E-9451-5578-EAA5ACBD0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9684E-117D-E97B-5EF2-05DB8AC3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BC34A-1ABF-D356-BC98-230CC71B1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532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00DF-10C2-4131-A64E-8900D8775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08B352-A5CC-2740-E998-27591E02F7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47AA8-6051-2737-2EBC-334C4B91D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CC25D-CAF8-2A73-65E5-6D31B214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CBC35-53CA-FFC1-5F49-16E648D4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96C39-B207-08D8-5528-1882B092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26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B28A-A519-B853-E0B4-19A5DC033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1C0FF4-1B25-23B6-DBC2-312993AD8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933F8-118C-C568-5FD4-80914745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A54FE-B375-1702-F133-681AFA54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C274B-5393-EA56-FDD6-F26E14CD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233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724AB-7DC0-4ED8-7947-D1B9EA1BA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F63C5-E94F-7207-CFE2-027A8D1CF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5E542-FA20-08D2-AD1E-904BC2EB8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37474-8A78-0CCE-8474-344DADFA2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C916E-B451-BC8D-EFC3-BF0475A9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789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E31EF9-87A0-53F9-5C54-8EB56E660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AACC-C3D4-1F77-3502-BEC0C1FEC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DDC42-40E1-A12D-E036-6A7B20B3E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90297-99C6-4A8F-9659-9D5527812103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FE289-24C7-13A8-03DC-7869DDBAA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C8C6-D42A-D767-A313-88DF6D766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3AABC-11A8-44E2-8F1B-32DAC466C6E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244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6BD644-43D8-494E-672E-71EB3A5C2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2424"/>
            <a:ext cx="12192000" cy="7200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2B1BD5-8A53-8170-9658-62F796516B80}"/>
              </a:ext>
            </a:extLst>
          </p:cNvPr>
          <p:cNvSpPr txBox="1"/>
          <p:nvPr/>
        </p:nvSpPr>
        <p:spPr>
          <a:xfrm>
            <a:off x="1152144" y="2202359"/>
            <a:ext cx="5867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CRM ANALYTICS</a:t>
            </a:r>
            <a:endParaRPr lang="en-IN" sz="4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7D09B9-0488-AE8D-A82A-16F0371B8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76" y="676656"/>
            <a:ext cx="2281428" cy="142869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4BFAE6-187A-2003-B0C2-A46DF69CE5C1}"/>
              </a:ext>
            </a:extLst>
          </p:cNvPr>
          <p:cNvSpPr txBox="1"/>
          <p:nvPr/>
        </p:nvSpPr>
        <p:spPr>
          <a:xfrm>
            <a:off x="4901184" y="3068812"/>
            <a:ext cx="1673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</a:rPr>
              <a:t>BY GROUP 3</a:t>
            </a:r>
            <a:endParaRPr lang="en-IN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B784C2-B397-3574-D415-B44AC6CF0C21}"/>
              </a:ext>
            </a:extLst>
          </p:cNvPr>
          <p:cNvSpPr txBox="1"/>
          <p:nvPr/>
        </p:nvSpPr>
        <p:spPr>
          <a:xfrm>
            <a:off x="7604760" y="4457343"/>
            <a:ext cx="197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TEAM MEMBERS :-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27C306-B825-EAE4-D9CF-BFC88487B809}"/>
              </a:ext>
            </a:extLst>
          </p:cNvPr>
          <p:cNvSpPr txBox="1"/>
          <p:nvPr/>
        </p:nvSpPr>
        <p:spPr>
          <a:xfrm>
            <a:off x="7604760" y="4826675"/>
            <a:ext cx="35600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+mj-lt"/>
              </a:rPr>
              <a:t>1. Pranay Mangesh Gawade</a:t>
            </a:r>
          </a:p>
          <a:p>
            <a:r>
              <a:rPr lang="en-IN" dirty="0">
                <a:solidFill>
                  <a:schemeClr val="bg1"/>
                </a:solidFill>
                <a:latin typeface="+mj-lt"/>
              </a:rPr>
              <a:t>2. Nikita Saroj</a:t>
            </a: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3. Koneru Joshna</a:t>
            </a:r>
          </a:p>
          <a:p>
            <a:r>
              <a:rPr lang="en-IN" dirty="0">
                <a:solidFill>
                  <a:schemeClr val="bg1"/>
                </a:solidFill>
                <a:latin typeface="+mj-lt"/>
              </a:rPr>
              <a:t>4. Booka Hemanth sai</a:t>
            </a:r>
          </a:p>
          <a:p>
            <a:r>
              <a:rPr lang="en-IN" dirty="0">
                <a:solidFill>
                  <a:schemeClr val="bg1"/>
                </a:solidFill>
                <a:latin typeface="+mj-lt"/>
              </a:rPr>
              <a:t>5. Budaraju Praneetha</a:t>
            </a:r>
          </a:p>
          <a:p>
            <a:r>
              <a:rPr lang="en-IN" dirty="0">
                <a:solidFill>
                  <a:schemeClr val="bg1"/>
                </a:solidFill>
                <a:latin typeface="+mj-lt"/>
              </a:rPr>
              <a:t>6. Mallikarjuna Kagula</a:t>
            </a:r>
          </a:p>
          <a:p>
            <a:endParaRPr lang="en-IN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6756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0A581B-AF46-7664-E0FD-EB52282AF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918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B36803-3A0E-5EDC-E9A5-8AD5455717B7}"/>
              </a:ext>
            </a:extLst>
          </p:cNvPr>
          <p:cNvSpPr txBox="1"/>
          <p:nvPr/>
        </p:nvSpPr>
        <p:spPr>
          <a:xfrm>
            <a:off x="3375660" y="256032"/>
            <a:ext cx="544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SUMMARY OF THE PROJECT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97C97-B88A-8EC4-E3B3-A131B6743AF9}"/>
              </a:ext>
            </a:extLst>
          </p:cNvPr>
          <p:cNvSpPr txBox="1"/>
          <p:nvPr/>
        </p:nvSpPr>
        <p:spPr>
          <a:xfrm>
            <a:off x="1627632" y="1069848"/>
            <a:ext cx="907084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This project analyzes CRM data to track </a:t>
            </a:r>
            <a:r>
              <a:rPr lang="en-US" sz="2400" b="1" dirty="0">
                <a:solidFill>
                  <a:schemeClr val="bg1"/>
                </a:solidFill>
              </a:rPr>
              <a:t>lead conversion, sales pipeline performance, and revenue trends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Using </a:t>
            </a:r>
            <a:r>
              <a:rPr lang="en-US" sz="2400" b="1" dirty="0">
                <a:solidFill>
                  <a:schemeClr val="bg1"/>
                </a:solidFill>
              </a:rPr>
              <a:t>SQL</a:t>
            </a:r>
            <a:r>
              <a:rPr lang="en-US" sz="2400" dirty="0">
                <a:solidFill>
                  <a:schemeClr val="bg1"/>
                </a:solidFill>
              </a:rPr>
              <a:t>, data from Leads, Accounts, Opportunities, Products, and Users was cleaned, joined, and transformed into key KPIs such as </a:t>
            </a:r>
            <a:r>
              <a:rPr lang="en-US" sz="2400" b="1" dirty="0">
                <a:solidFill>
                  <a:schemeClr val="bg1"/>
                </a:solidFill>
              </a:rPr>
              <a:t>conversion rate, win rate, and expected revenue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insights were visualized using </a:t>
            </a:r>
            <a:r>
              <a:rPr lang="en-US" sz="2400" b="1" dirty="0">
                <a:solidFill>
                  <a:schemeClr val="bg1"/>
                </a:solidFill>
              </a:rPr>
              <a:t>Power BI, Tableau, and Excel</a:t>
            </a:r>
            <a:r>
              <a:rPr lang="en-US" sz="2400" dirty="0">
                <a:solidFill>
                  <a:schemeClr val="bg1"/>
                </a:solidFill>
              </a:rPr>
              <a:t> through </a:t>
            </a:r>
            <a:r>
              <a:rPr lang="en-US" sz="2400" b="1" dirty="0">
                <a:solidFill>
                  <a:schemeClr val="bg1"/>
                </a:solidFill>
              </a:rPr>
              <a:t>Lead and Opportunity dashboards</a:t>
            </a:r>
            <a:r>
              <a:rPr lang="en-US" sz="2400" dirty="0">
                <a:solidFill>
                  <a:schemeClr val="bg1"/>
                </a:solidFill>
              </a:rPr>
              <a:t>, enabling data-driven sales decisions.</a:t>
            </a:r>
            <a:endParaRPr lang="en-IN" sz="2400" dirty="0">
              <a:solidFill>
                <a:schemeClr val="bg1"/>
              </a:solidFill>
            </a:endParaRPr>
          </a:p>
          <a:p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073188-BCB4-8B94-46C1-158A3F77D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5416" y="6254496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6307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198505-07F6-6149-FFA0-CF2057125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3804"/>
            <a:ext cx="12192000" cy="71918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976E8A-C36B-6366-BEF4-D28BCC056D6D}"/>
              </a:ext>
            </a:extLst>
          </p:cNvPr>
          <p:cNvSpPr txBox="1"/>
          <p:nvPr/>
        </p:nvSpPr>
        <p:spPr>
          <a:xfrm>
            <a:off x="4696968" y="219456"/>
            <a:ext cx="2798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KPI LIST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3F42B-7F07-AB17-5999-E2F55EAB1DD8}"/>
              </a:ext>
            </a:extLst>
          </p:cNvPr>
          <p:cNvSpPr txBox="1"/>
          <p:nvPr/>
        </p:nvSpPr>
        <p:spPr>
          <a:xfrm>
            <a:off x="1304544" y="1524786"/>
            <a:ext cx="4407408" cy="3371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Total Lead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Expected Amount from Converted Leads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Conversion Rate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Converted Accounts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Converted Opportunities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Lead By Source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Lead By industry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Lead by Stage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5BAD3-FC8A-92F5-1B2F-31729CF5958E}"/>
              </a:ext>
            </a:extLst>
          </p:cNvPr>
          <p:cNvSpPr txBox="1"/>
          <p:nvPr/>
        </p:nvSpPr>
        <p:spPr>
          <a:xfrm>
            <a:off x="1094232" y="1124676"/>
            <a:ext cx="2798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</a:rPr>
              <a:t>LEAD DASHBOARD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19586-1C7E-CEF1-47A3-E2D4020CDFD3}"/>
              </a:ext>
            </a:extLst>
          </p:cNvPr>
          <p:cNvSpPr txBox="1"/>
          <p:nvPr/>
        </p:nvSpPr>
        <p:spPr>
          <a:xfrm>
            <a:off x="7016496" y="1124676"/>
            <a:ext cx="3663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</a:rPr>
              <a:t>OPPORTUNITY DASHBOARD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EB51E9-7C52-3B4F-DFFD-88BB8076F2D5}"/>
              </a:ext>
            </a:extLst>
          </p:cNvPr>
          <p:cNvSpPr txBox="1"/>
          <p:nvPr/>
        </p:nvSpPr>
        <p:spPr>
          <a:xfrm>
            <a:off x="7226808" y="1524786"/>
            <a:ext cx="4614672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Expected Amount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Active Opportunities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Conversion Rate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Win Rate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Loss Rate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Expected Vs Forecast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Active Vs Total Opportunities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Closed Won Vs Total Opportunities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Closed Won Vs Total Closed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Expected Amount by Opportunity Type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Opportunities by Industry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0DEC1B-D4D2-4D80-73F7-75661E6A3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5416" y="6254496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88456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E0F638-0B73-EF4F-F9CD-834AE1998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91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D28AD2-90F7-009E-BA19-AACCCE701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5416" y="6254496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A914F2-1D33-C8EA-4A49-B97433E8B808}"/>
              </a:ext>
            </a:extLst>
          </p:cNvPr>
          <p:cNvSpPr txBox="1"/>
          <p:nvPr/>
        </p:nvSpPr>
        <p:spPr>
          <a:xfrm>
            <a:off x="3265932" y="30998"/>
            <a:ext cx="5660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EXCEL DASHBOARD</a:t>
            </a: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593248-6C99-75EB-4F47-210429DE90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376" y="585216"/>
            <a:ext cx="9853248" cy="570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0E0A08-267D-CD24-34DF-1578554AF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91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453AD0-D8F2-F47A-AFFF-DC68D747B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288" y="6455664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E01EAD-85BD-74B9-E160-D1815CCDE9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913" y="464712"/>
            <a:ext cx="9648173" cy="62623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8C7CFB-26D3-9067-4A87-B320F1A8A45E}"/>
              </a:ext>
            </a:extLst>
          </p:cNvPr>
          <p:cNvSpPr txBox="1"/>
          <p:nvPr/>
        </p:nvSpPr>
        <p:spPr>
          <a:xfrm>
            <a:off x="3265932" y="49286"/>
            <a:ext cx="5660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EXCEL DASHBOARD</a:t>
            </a:r>
            <a:endParaRPr lang="en-IN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202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466BE9-EC93-D90B-EC0F-ECD519AF4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918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9B2515-EA9A-38AF-58A8-46A24ACF8BF9}"/>
              </a:ext>
            </a:extLst>
          </p:cNvPr>
          <p:cNvSpPr txBox="1"/>
          <p:nvPr/>
        </p:nvSpPr>
        <p:spPr>
          <a:xfrm>
            <a:off x="3265932" y="40142"/>
            <a:ext cx="5660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TABLEAU DASHBOARD</a:t>
            </a: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8602A5-29F3-A219-E17F-D4F63B784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48" y="781118"/>
            <a:ext cx="10920903" cy="5629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B4BCB7-EF46-582D-93D0-9E33950BB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288" y="6455664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61965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754B1D-B95A-8E0C-63D1-04175BE1B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91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27EBD3-04A3-8195-8B7D-9AD3F9B50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288" y="6455664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BB7F2D-0137-5787-11ED-72937214C9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78" y="554663"/>
            <a:ext cx="11282443" cy="57486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BAEA9C-A452-9B21-CFEB-C2631C350DA3}"/>
              </a:ext>
            </a:extLst>
          </p:cNvPr>
          <p:cNvSpPr txBox="1"/>
          <p:nvPr/>
        </p:nvSpPr>
        <p:spPr>
          <a:xfrm>
            <a:off x="3265932" y="104150"/>
            <a:ext cx="5660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TABLEAU DASHBOARD</a:t>
            </a:r>
            <a:endParaRPr lang="en-IN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79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D7619F-DD62-A46A-BAEC-34346EC3E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91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FD9D23-5B7A-6A1D-2DB1-AE05972AB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288" y="6455664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D9F3C4-227E-D5EC-797C-669563A1DCD6}"/>
              </a:ext>
            </a:extLst>
          </p:cNvPr>
          <p:cNvSpPr txBox="1"/>
          <p:nvPr/>
        </p:nvSpPr>
        <p:spPr>
          <a:xfrm>
            <a:off x="3265932" y="30998"/>
            <a:ext cx="5660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POWERBI DASHBOARD</a:t>
            </a: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69639-63B8-A4C7-BC4B-2C6DB5551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13" y="612648"/>
            <a:ext cx="9961973" cy="563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23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7FC47D-B1E8-AF83-632B-FCB1D486F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91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D223B6-BEBF-D970-E11D-70DF199B4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288" y="6455664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9B3252-563C-52B6-514C-4BAC94D634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30" y="516636"/>
            <a:ext cx="10285539" cy="58247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42B136-2B17-3EB0-2044-2F3EC50F8AC8}"/>
              </a:ext>
            </a:extLst>
          </p:cNvPr>
          <p:cNvSpPr txBox="1"/>
          <p:nvPr/>
        </p:nvSpPr>
        <p:spPr>
          <a:xfrm>
            <a:off x="3265932" y="49286"/>
            <a:ext cx="5660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POWERBI DASHBOARD</a:t>
            </a:r>
            <a:endParaRPr lang="en-IN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242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C1202-8B06-7C33-08F6-A88A844B9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91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BAE18B-7255-FF19-7862-E33318C2B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288" y="6455664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9C73AD-C761-010E-A9EB-86B3EB021235}"/>
              </a:ext>
            </a:extLst>
          </p:cNvPr>
          <p:cNvSpPr txBox="1"/>
          <p:nvPr/>
        </p:nvSpPr>
        <p:spPr>
          <a:xfrm>
            <a:off x="3265932" y="30998"/>
            <a:ext cx="5660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SQL QUERIES</a:t>
            </a: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09302-B1EB-8C05-1AB5-EAEA60BC94FF}"/>
              </a:ext>
            </a:extLst>
          </p:cNvPr>
          <p:cNvSpPr txBox="1"/>
          <p:nvPr/>
        </p:nvSpPr>
        <p:spPr>
          <a:xfrm>
            <a:off x="996696" y="325618"/>
            <a:ext cx="2496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SQL QURIES FOR LEAD KPI’S </a:t>
            </a:r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343FE0-038A-5AD9-720C-29925BC38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65" y="664172"/>
            <a:ext cx="5590336" cy="29268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254DCE-7744-697F-AFBA-1B47EC57B0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673" y="3700964"/>
            <a:ext cx="3010320" cy="33307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23A510-9A1C-0FEE-567C-618184035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666" y="664172"/>
            <a:ext cx="2972215" cy="51537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D344B8-9B06-5A35-5BF1-F045097B6A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166" y="664172"/>
            <a:ext cx="2934109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29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D9B875-9D2B-D48C-95B5-5201A9BDA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91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78033B-58FF-3972-7DE8-E78EB6B01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204" y="6199632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0A67EC-8C0B-1639-43F6-CCD33455A6E7}"/>
              </a:ext>
            </a:extLst>
          </p:cNvPr>
          <p:cNvSpPr txBox="1"/>
          <p:nvPr/>
        </p:nvSpPr>
        <p:spPr>
          <a:xfrm>
            <a:off x="4770120" y="-70720"/>
            <a:ext cx="2651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SQL QURIES FOR OPPORTUNITY KPI’S 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6B49A-BA26-7F20-DE3D-4C9D13D172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9" y="584775"/>
            <a:ext cx="5001768" cy="53405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8DB99A-3702-B18C-9D16-FD685126F2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1" y="6093331"/>
            <a:ext cx="5001768" cy="543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02A20D-29F3-853F-B798-AC737ECBE2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929" y="557188"/>
            <a:ext cx="3675886" cy="46451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1CD1C1-C9D2-58D3-F6D5-F80371A2C4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31"/>
          <a:stretch>
            <a:fillRect/>
          </a:stretch>
        </p:blipFill>
        <p:spPr>
          <a:xfrm>
            <a:off x="8910145" y="1806238"/>
            <a:ext cx="3186525" cy="324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00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6CB478-F4EE-8734-1F6C-A3B8616A2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91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BFB322-E37F-3894-401C-380F7F012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9378" y="6350359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FF3B65-268B-0EA3-05BC-0AA9EF4525C7}"/>
              </a:ext>
            </a:extLst>
          </p:cNvPr>
          <p:cNvSpPr txBox="1"/>
          <p:nvPr/>
        </p:nvSpPr>
        <p:spPr>
          <a:xfrm>
            <a:off x="1042416" y="201062"/>
            <a:ext cx="337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bg1"/>
                </a:solidFill>
              </a:rPr>
              <a:t>KEY TAKEAWAYS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22AFAA7-90D7-866B-7A06-68882701E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6157" y="785803"/>
            <a:ext cx="9256643" cy="586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Conversion and win rates clearly indicate the effectiveness of the sales funnel from lead generation to deal closure.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Active opportunities highlight strong pipeline potential but require timely follow-ups to improve closures.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Expected amount trends help in comparing revenue potential against forecasts and identifying gaps early.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Industry- and source-wise lead analysis reveals high-performing segments and underperforming channels.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Loss rate analysis uncovers key challenges in deal conversion and areas needing process or strategy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Trend analysis supports data-driven decision-making and improves future sales forecasting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Focusing on high-conversion lead sources and industries can significantly boost revenue outcomes.</a:t>
            </a:r>
          </a:p>
        </p:txBody>
      </p:sp>
    </p:spTree>
    <p:extLst>
      <p:ext uri="{BB962C8B-B14F-4D97-AF65-F5344CB8AC3E}">
        <p14:creationId xmlns:p14="http://schemas.microsoft.com/office/powerpoint/2010/main" val="168510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F4FC16-C183-C680-F4A1-DF4C3FBB1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3804"/>
            <a:ext cx="12192000" cy="7191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4CB2FE-F932-1C13-3C58-6F3FFB2B3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204" y="6199632"/>
            <a:ext cx="810635" cy="5076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9A0AF1-7662-DE6A-44E2-ED7942DE4D90}"/>
              </a:ext>
            </a:extLst>
          </p:cNvPr>
          <p:cNvSpPr txBox="1"/>
          <p:nvPr/>
        </p:nvSpPr>
        <p:spPr>
          <a:xfrm>
            <a:off x="3488436" y="2961501"/>
            <a:ext cx="5215128" cy="934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Bodoni MT" panose="02070603080606020203" pitchFamily="18" charset="0"/>
              </a:rPr>
              <a:t>THANK YOU</a:t>
            </a:r>
            <a:endParaRPr lang="en-IN" sz="5400" b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85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312</Words>
  <Application>Microsoft Office PowerPoint</Application>
  <PresentationFormat>Widescreen</PresentationFormat>
  <Paragraphs>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Rounded MT Bold</vt:lpstr>
      <vt:lpstr>Bodoni MT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Pranay Gawade</dc:creator>
  <cp:lastModifiedBy>Pranay Gawade</cp:lastModifiedBy>
  <cp:revision>4</cp:revision>
  <dcterms:created xsi:type="dcterms:W3CDTF">2026-01-29T13:24:58Z</dcterms:created>
  <dcterms:modified xsi:type="dcterms:W3CDTF">2026-01-30T04:04:55Z</dcterms:modified>
</cp:coreProperties>
</file>